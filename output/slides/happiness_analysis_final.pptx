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A"/>
    <a:srgbClr val="FFF8E1"/>
    <a:srgbClr val="E8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058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oxplot">
            <a:extLst>
              <a:ext uri="{FF2B5EF4-FFF2-40B4-BE49-F238E27FC236}">
                <a16:creationId xmlns:a16="http://schemas.microsoft.com/office/drawing/2014/main" id="{8859B15B-C989-D1E8-1C6A-5DCE5F6D1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73" y="4149677"/>
            <a:ext cx="1889312" cy="1053093"/>
          </a:xfrm>
          <a:prstGeom prst="rect">
            <a:avLst/>
          </a:prstGeom>
        </p:spPr>
      </p:pic>
      <p:pic>
        <p:nvPicPr>
          <p:cNvPr id="1030" name="Light_Bulb" descr="Simple Light Bulb Icon Stock Illustrations – 59,331 Simple Light Bulb Icon  Stock Illustrations, Vectors &amp; Clipart - Dreamstime">
            <a:extLst>
              <a:ext uri="{FF2B5EF4-FFF2-40B4-BE49-F238E27FC236}">
                <a16:creationId xmlns:a16="http://schemas.microsoft.com/office/drawing/2014/main" id="{B6DCBCF2-6205-F5B6-79D3-A8236734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64" y="3731567"/>
            <a:ext cx="1889312" cy="188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Validate_bullets">
            <a:extLst>
              <a:ext uri="{FF2B5EF4-FFF2-40B4-BE49-F238E27FC236}">
                <a16:creationId xmlns:a16="http://schemas.microsoft.com/office/drawing/2014/main" id="{D3220A0F-0E20-263F-C96E-B3ECD9AD48D0}"/>
              </a:ext>
            </a:extLst>
          </p:cNvPr>
          <p:cNvSpPr txBox="1"/>
          <p:nvPr/>
        </p:nvSpPr>
        <p:spPr>
          <a:xfrm>
            <a:off x="6084803" y="2445163"/>
            <a:ext cx="26154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Segmented countries by happiness score (Bottom / Middle / Top)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Compared driver distributions across groups</a:t>
            </a:r>
          </a:p>
        </p:txBody>
      </p:sp>
      <p:sp>
        <p:nvSpPr>
          <p:cNvPr id="13" name="Hypothesis_Bullets">
            <a:extLst>
              <a:ext uri="{FF2B5EF4-FFF2-40B4-BE49-F238E27FC236}">
                <a16:creationId xmlns:a16="http://schemas.microsoft.com/office/drawing/2014/main" id="{2F736892-D01E-9B73-F0F6-9519FE40DC30}"/>
              </a:ext>
            </a:extLst>
          </p:cNvPr>
          <p:cNvSpPr txBox="1"/>
          <p:nvPr/>
        </p:nvSpPr>
        <p:spPr>
          <a:xfrm>
            <a:off x="3033134" y="2445163"/>
            <a:ext cx="26154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Hypothesis:</a:t>
            </a:r>
            <a:br>
              <a:rPr lang="en-US" sz="1600" dirty="0"/>
            </a:br>
            <a:r>
              <a:rPr lang="en-US" sz="1600" b="1" dirty="0"/>
              <a:t>“High-performing countries will consistently outperform across key drivers”</a:t>
            </a:r>
            <a:endParaRPr lang="en-US" sz="1600" dirty="0"/>
          </a:p>
        </p:txBody>
      </p:sp>
      <p:sp>
        <p:nvSpPr>
          <p:cNvPr id="17" name="Explore_bullets">
            <a:extLst>
              <a:ext uri="{FF2B5EF4-FFF2-40B4-BE49-F238E27FC236}">
                <a16:creationId xmlns:a16="http://schemas.microsoft.com/office/drawing/2014/main" id="{5C9EC8BD-D493-C231-118F-93185B299639}"/>
              </a:ext>
            </a:extLst>
          </p:cNvPr>
          <p:cNvSpPr txBox="1"/>
          <p:nvPr/>
        </p:nvSpPr>
        <p:spPr>
          <a:xfrm>
            <a:off x="224171" y="2445163"/>
            <a:ext cx="26154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Analyzed correlations across key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Identified strongest drivers of happiness</a:t>
            </a:r>
          </a:p>
        </p:txBody>
      </p:sp>
      <p:sp>
        <p:nvSpPr>
          <p:cNvPr id="30" name="Validate">
            <a:extLst>
              <a:ext uri="{FF2B5EF4-FFF2-40B4-BE49-F238E27FC236}">
                <a16:creationId xmlns:a16="http://schemas.microsoft.com/office/drawing/2014/main" id="{2B851766-380D-310E-FCDE-EE1FF683876B}"/>
              </a:ext>
            </a:extLst>
          </p:cNvPr>
          <p:cNvSpPr txBox="1">
            <a:spLocks/>
          </p:cNvSpPr>
          <p:nvPr/>
        </p:nvSpPr>
        <p:spPr>
          <a:xfrm>
            <a:off x="5809139" y="1610572"/>
            <a:ext cx="3166781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Validate through Segmentation</a:t>
            </a:r>
          </a:p>
        </p:txBody>
      </p:sp>
      <p:pic>
        <p:nvPicPr>
          <p:cNvPr id="32" name="arrow_2" descr="Arrow: Slight curve with solid fill">
            <a:extLst>
              <a:ext uri="{FF2B5EF4-FFF2-40B4-BE49-F238E27FC236}">
                <a16:creationId xmlns:a16="http://schemas.microsoft.com/office/drawing/2014/main" id="{3069DAD6-D71E-FB0A-A5D0-E8CDF3FB77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4796" y="1554412"/>
            <a:ext cx="691570" cy="691570"/>
          </a:xfrm>
          <a:prstGeom prst="rect">
            <a:avLst/>
          </a:prstGeom>
        </p:spPr>
      </p:pic>
      <p:sp>
        <p:nvSpPr>
          <p:cNvPr id="29" name="Hypothesis">
            <a:extLst>
              <a:ext uri="{FF2B5EF4-FFF2-40B4-BE49-F238E27FC236}">
                <a16:creationId xmlns:a16="http://schemas.microsoft.com/office/drawing/2014/main" id="{02CAB37D-5FCE-FA6B-BAD7-845C69D88E66}"/>
              </a:ext>
            </a:extLst>
          </p:cNvPr>
          <p:cNvSpPr txBox="1">
            <a:spLocks/>
          </p:cNvSpPr>
          <p:nvPr/>
        </p:nvSpPr>
        <p:spPr>
          <a:xfrm>
            <a:off x="3325085" y="1610572"/>
            <a:ext cx="1830482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Form Hypothesis</a:t>
            </a:r>
          </a:p>
        </p:txBody>
      </p:sp>
      <p:pic>
        <p:nvPicPr>
          <p:cNvPr id="33" name="arrow_1" descr="Arrow: Slight curve with solid fill">
            <a:extLst>
              <a:ext uri="{FF2B5EF4-FFF2-40B4-BE49-F238E27FC236}">
                <a16:creationId xmlns:a16="http://schemas.microsoft.com/office/drawing/2014/main" id="{59970E47-A36F-87D1-DF1E-0315346EB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8392" y="1554412"/>
            <a:ext cx="691570" cy="691570"/>
          </a:xfrm>
          <a:prstGeom prst="rect">
            <a:avLst/>
          </a:prstGeom>
        </p:spPr>
      </p:pic>
      <p:sp>
        <p:nvSpPr>
          <p:cNvPr id="8" name="Explore">
            <a:extLst>
              <a:ext uri="{FF2B5EF4-FFF2-40B4-BE49-F238E27FC236}">
                <a16:creationId xmlns:a16="http://schemas.microsoft.com/office/drawing/2014/main" id="{60E15E67-7A1B-113B-795B-805540AE94BE}"/>
              </a:ext>
            </a:extLst>
          </p:cNvPr>
          <p:cNvSpPr txBox="1">
            <a:spLocks/>
          </p:cNvSpPr>
          <p:nvPr/>
        </p:nvSpPr>
        <p:spPr>
          <a:xfrm>
            <a:off x="338433" y="1610572"/>
            <a:ext cx="2224368" cy="579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Explore Relationships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3327" y="418907"/>
            <a:ext cx="6717345" cy="907801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From Exploration to Insight: A Structured Approach to Identifying Key Drivers</a:t>
            </a:r>
            <a:endParaRPr b="1" dirty="0"/>
          </a:p>
        </p:txBody>
      </p:sp>
      <p:pic>
        <p:nvPicPr>
          <p:cNvPr id="1038" name="Globe" descr="img.freepik.com/premium-vector/globe-world-europe-...">
            <a:extLst>
              <a:ext uri="{FF2B5EF4-FFF2-40B4-BE49-F238E27FC236}">
                <a16:creationId xmlns:a16="http://schemas.microsoft.com/office/drawing/2014/main" id="{51CE40E0-35C3-8A9D-0EB4-F1352F055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80" y="152841"/>
            <a:ext cx="1415060" cy="141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08791F-8DC2-D4EE-E859-8F780F22F8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94" y="3853262"/>
            <a:ext cx="2743206" cy="1645923"/>
          </a:xfrm>
          <a:prstGeom prst="rect">
            <a:avLst/>
          </a:prstGeom>
        </p:spPr>
      </p:pic>
      <p:pic>
        <p:nvPicPr>
          <p:cNvPr id="7" name="Light_Bulb" descr="Simple Light Bulb Icon Stock Illustrations – 59,331 Simple Light Bulb Icon  Stock Illustrations, Vectors &amp; Clipart - Dreamstime">
            <a:extLst>
              <a:ext uri="{FF2B5EF4-FFF2-40B4-BE49-F238E27FC236}">
                <a16:creationId xmlns:a16="http://schemas.microsoft.com/office/drawing/2014/main" id="{6D678243-4231-86ED-B70E-0DDEB3C89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204" y="3731567"/>
            <a:ext cx="1889312" cy="188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08FB3B-70A2-F6A4-EA83-9F84E176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FA9-EE43-5EBE-F01E-439BE97F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23" y="274638"/>
            <a:ext cx="8969188" cy="5792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Foundational Drivers Define Outcomes; Amplifiers Enhance Them</a:t>
            </a:r>
            <a:endParaRPr b="1" dirty="0"/>
          </a:p>
        </p:txBody>
      </p:sp>
      <p:grpSp>
        <p:nvGrpSpPr>
          <p:cNvPr id="31" name="Minimal">
            <a:extLst>
              <a:ext uri="{FF2B5EF4-FFF2-40B4-BE49-F238E27FC236}">
                <a16:creationId xmlns:a16="http://schemas.microsoft.com/office/drawing/2014/main" id="{392CF725-37EA-A257-BD0C-3494C6CC0B86}"/>
              </a:ext>
            </a:extLst>
          </p:cNvPr>
          <p:cNvGrpSpPr/>
          <p:nvPr/>
        </p:nvGrpSpPr>
        <p:grpSpPr>
          <a:xfrm>
            <a:off x="282387" y="1149722"/>
            <a:ext cx="8706971" cy="2279278"/>
            <a:chOff x="282387" y="1149722"/>
            <a:chExt cx="8706971" cy="2279278"/>
          </a:xfrm>
        </p:grpSpPr>
        <p:sp>
          <p:nvSpPr>
            <p:cNvPr id="10" name="Minimal_bg">
              <a:extLst>
                <a:ext uri="{FF2B5EF4-FFF2-40B4-BE49-F238E27FC236}">
                  <a16:creationId xmlns:a16="http://schemas.microsoft.com/office/drawing/2014/main" id="{D184C280-996D-625A-DE3F-BCBBBE954CDD}"/>
                </a:ext>
              </a:extLst>
            </p:cNvPr>
            <p:cNvSpPr/>
            <p:nvPr/>
          </p:nvSpPr>
          <p:spPr>
            <a:xfrm>
              <a:off x="282387" y="1149722"/>
              <a:ext cx="8706971" cy="2279278"/>
            </a:xfrm>
            <a:prstGeom prst="rect">
              <a:avLst/>
            </a:prstGeom>
            <a:solidFill>
              <a:srgbClr val="E8F5E9">
                <a:alpha val="15000"/>
              </a:srgb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Minimal_title">
              <a:extLst>
                <a:ext uri="{FF2B5EF4-FFF2-40B4-BE49-F238E27FC236}">
                  <a16:creationId xmlns:a16="http://schemas.microsoft.com/office/drawing/2014/main" id="{3161B58E-6620-6AA3-1C56-7D01B8EBDED7}"/>
                </a:ext>
              </a:extLst>
            </p:cNvPr>
            <p:cNvSpPr txBox="1"/>
            <p:nvPr/>
          </p:nvSpPr>
          <p:spPr>
            <a:xfrm>
              <a:off x="609987" y="1149722"/>
              <a:ext cx="2175339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b="1" dirty="0"/>
                <a:t>Foundational Drivers</a:t>
              </a:r>
              <a:endParaRPr lang="en-US" b="1" dirty="0"/>
            </a:p>
          </p:txBody>
        </p:sp>
      </p:grpSp>
      <p:grpSp>
        <p:nvGrpSpPr>
          <p:cNvPr id="32" name="Amplifying">
            <a:extLst>
              <a:ext uri="{FF2B5EF4-FFF2-40B4-BE49-F238E27FC236}">
                <a16:creationId xmlns:a16="http://schemas.microsoft.com/office/drawing/2014/main" id="{E9003631-0E93-6CE5-8267-F528490C1E36}"/>
              </a:ext>
            </a:extLst>
          </p:cNvPr>
          <p:cNvGrpSpPr/>
          <p:nvPr/>
        </p:nvGrpSpPr>
        <p:grpSpPr>
          <a:xfrm>
            <a:off x="282388" y="3556410"/>
            <a:ext cx="5741894" cy="2575111"/>
            <a:chOff x="282388" y="3556410"/>
            <a:chExt cx="5741894" cy="2575111"/>
          </a:xfrm>
        </p:grpSpPr>
        <p:sp>
          <p:nvSpPr>
            <p:cNvPr id="11" name="Amplifying_bg">
              <a:extLst>
                <a:ext uri="{FF2B5EF4-FFF2-40B4-BE49-F238E27FC236}">
                  <a16:creationId xmlns:a16="http://schemas.microsoft.com/office/drawing/2014/main" id="{705FB3FF-771A-7C35-E527-CA4365C310B7}"/>
                </a:ext>
              </a:extLst>
            </p:cNvPr>
            <p:cNvSpPr/>
            <p:nvPr/>
          </p:nvSpPr>
          <p:spPr>
            <a:xfrm>
              <a:off x="282388" y="3556410"/>
              <a:ext cx="5741894" cy="2575111"/>
            </a:xfrm>
            <a:prstGeom prst="rect">
              <a:avLst/>
            </a:prstGeom>
            <a:solidFill>
              <a:srgbClr val="FFF8E1"/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Amplifying_title">
              <a:extLst>
                <a:ext uri="{FF2B5EF4-FFF2-40B4-BE49-F238E27FC236}">
                  <a16:creationId xmlns:a16="http://schemas.microsoft.com/office/drawing/2014/main" id="{CEF10539-D91E-135C-562D-B274AF09EF7F}"/>
                </a:ext>
              </a:extLst>
            </p:cNvPr>
            <p:cNvSpPr txBox="1"/>
            <p:nvPr/>
          </p:nvSpPr>
          <p:spPr>
            <a:xfrm>
              <a:off x="723159" y="3566560"/>
              <a:ext cx="1948995" cy="3693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b="1" dirty="0"/>
                <a:t>Amplifying </a:t>
              </a:r>
              <a:r>
                <a:rPr lang="en-US" b="1" dirty="0"/>
                <a:t>Drivers</a:t>
              </a:r>
            </a:p>
          </p:txBody>
        </p:sp>
      </p:grpSp>
      <p:grpSp>
        <p:nvGrpSpPr>
          <p:cNvPr id="33" name="Foundational">
            <a:extLst>
              <a:ext uri="{FF2B5EF4-FFF2-40B4-BE49-F238E27FC236}">
                <a16:creationId xmlns:a16="http://schemas.microsoft.com/office/drawing/2014/main" id="{E2008A66-9E02-A2C7-C549-C4C18509CAD5}"/>
              </a:ext>
            </a:extLst>
          </p:cNvPr>
          <p:cNvGrpSpPr/>
          <p:nvPr/>
        </p:nvGrpSpPr>
        <p:grpSpPr>
          <a:xfrm>
            <a:off x="6181439" y="3556410"/>
            <a:ext cx="2807920" cy="2575112"/>
            <a:chOff x="6181439" y="3556410"/>
            <a:chExt cx="2807920" cy="2575112"/>
          </a:xfrm>
        </p:grpSpPr>
        <p:sp>
          <p:nvSpPr>
            <p:cNvPr id="12" name="Foundational_bg">
              <a:extLst>
                <a:ext uri="{FF2B5EF4-FFF2-40B4-BE49-F238E27FC236}">
                  <a16:creationId xmlns:a16="http://schemas.microsoft.com/office/drawing/2014/main" id="{BAE68BC0-A9A9-21AD-3248-970085CD9146}"/>
                </a:ext>
              </a:extLst>
            </p:cNvPr>
            <p:cNvSpPr/>
            <p:nvPr/>
          </p:nvSpPr>
          <p:spPr>
            <a:xfrm>
              <a:off x="6181439" y="3556410"/>
              <a:ext cx="2807920" cy="2575112"/>
            </a:xfrm>
            <a:prstGeom prst="rect">
              <a:avLst/>
            </a:prstGeom>
            <a:solidFill>
              <a:srgbClr val="FDECEA">
                <a:alpha val="15000"/>
              </a:srgb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oundational_title">
              <a:extLst>
                <a:ext uri="{FF2B5EF4-FFF2-40B4-BE49-F238E27FC236}">
                  <a16:creationId xmlns:a16="http://schemas.microsoft.com/office/drawing/2014/main" id="{651CE2AE-F7A6-552C-1CE2-C98FDAB21788}"/>
                </a:ext>
              </a:extLst>
            </p:cNvPr>
            <p:cNvSpPr txBox="1"/>
            <p:nvPr/>
          </p:nvSpPr>
          <p:spPr>
            <a:xfrm>
              <a:off x="6181439" y="3566560"/>
              <a:ext cx="24517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/>
                <a:t>Minimal Impact</a:t>
              </a:r>
              <a:r>
                <a:rPr lang="en-US" b="1" dirty="0"/>
                <a:t> Driver</a:t>
              </a:r>
            </a:p>
          </p:txBody>
        </p:sp>
      </p:grpSp>
      <p:sp>
        <p:nvSpPr>
          <p:cNvPr id="3" name="subtitle">
            <a:extLst>
              <a:ext uri="{FF2B5EF4-FFF2-40B4-BE49-F238E27FC236}">
                <a16:creationId xmlns:a16="http://schemas.microsoft.com/office/drawing/2014/main" id="{589C7FA6-4273-77C8-D2E6-23BEC8997EAA}"/>
              </a:ext>
            </a:extLst>
          </p:cNvPr>
          <p:cNvSpPr txBox="1"/>
          <p:nvPr/>
        </p:nvSpPr>
        <p:spPr>
          <a:xfrm>
            <a:off x="465156" y="763712"/>
            <a:ext cx="82305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dirty="0"/>
              <a:t>Top-performing countries consistently show higher values across GDP, Health, and Social Support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874BE9D9-9AD0-06E9-A660-5FF606329271}"/>
              </a:ext>
            </a:extLst>
          </p:cNvPr>
          <p:cNvSpPr txBox="1"/>
          <p:nvPr/>
        </p:nvSpPr>
        <p:spPr>
          <a:xfrm>
            <a:off x="1073704" y="6131522"/>
            <a:ext cx="7013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“These patterns likely reflect that economic stability enables better health systems and social infrastructure, which more directly influence overall well-being.”</a:t>
            </a:r>
          </a:p>
        </p:txBody>
      </p:sp>
      <p:pic>
        <p:nvPicPr>
          <p:cNvPr id="15" name="gdp_boxplot">
            <a:extLst>
              <a:ext uri="{FF2B5EF4-FFF2-40B4-BE49-F238E27FC236}">
                <a16:creationId xmlns:a16="http://schemas.microsoft.com/office/drawing/2014/main" id="{2DAD4272-691C-55EE-2E59-129DA9068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39" y="1610224"/>
            <a:ext cx="2249424" cy="1649577"/>
          </a:xfrm>
          <a:prstGeom prst="rect">
            <a:avLst/>
          </a:prstGeom>
        </p:spPr>
      </p:pic>
      <p:pic>
        <p:nvPicPr>
          <p:cNvPr id="19" name="health_boxplot">
            <a:extLst>
              <a:ext uri="{FF2B5EF4-FFF2-40B4-BE49-F238E27FC236}">
                <a16:creationId xmlns:a16="http://schemas.microsoft.com/office/drawing/2014/main" id="{B10E951F-325B-8B92-F214-C74B4C0F7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236" y="1612052"/>
            <a:ext cx="2244437" cy="1645920"/>
          </a:xfrm>
          <a:prstGeom prst="rect">
            <a:avLst/>
          </a:prstGeom>
        </p:spPr>
      </p:pic>
      <p:pic>
        <p:nvPicPr>
          <p:cNvPr id="23" name="social_support_boxplot">
            <a:extLst>
              <a:ext uri="{FF2B5EF4-FFF2-40B4-BE49-F238E27FC236}">
                <a16:creationId xmlns:a16="http://schemas.microsoft.com/office/drawing/2014/main" id="{21D33367-56AE-7C75-8567-4BDAF9A20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625" y="1612052"/>
            <a:ext cx="2244437" cy="1645920"/>
          </a:xfrm>
          <a:prstGeom prst="rect">
            <a:avLst/>
          </a:prstGeom>
        </p:spPr>
      </p:pic>
      <p:pic>
        <p:nvPicPr>
          <p:cNvPr id="26" name="freedom_boxplot">
            <a:extLst>
              <a:ext uri="{FF2B5EF4-FFF2-40B4-BE49-F238E27FC236}">
                <a16:creationId xmlns:a16="http://schemas.microsoft.com/office/drawing/2014/main" id="{EE55EE38-F101-089C-7A65-2980BAE4F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33" y="4077004"/>
            <a:ext cx="2244437" cy="1645920"/>
          </a:xfrm>
          <a:prstGeom prst="rect">
            <a:avLst/>
          </a:prstGeom>
        </p:spPr>
      </p:pic>
      <p:pic>
        <p:nvPicPr>
          <p:cNvPr id="28" name="trust_boxplot">
            <a:extLst>
              <a:ext uri="{FF2B5EF4-FFF2-40B4-BE49-F238E27FC236}">
                <a16:creationId xmlns:a16="http://schemas.microsoft.com/office/drawing/2014/main" id="{39071144-9287-0150-EEC7-773A9AF648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7236" y="4077004"/>
            <a:ext cx="2244437" cy="1645920"/>
          </a:xfrm>
          <a:prstGeom prst="rect">
            <a:avLst/>
          </a:prstGeom>
        </p:spPr>
      </p:pic>
      <p:pic>
        <p:nvPicPr>
          <p:cNvPr id="30" name="generosity_boxplot">
            <a:extLst>
              <a:ext uri="{FF2B5EF4-FFF2-40B4-BE49-F238E27FC236}">
                <a16:creationId xmlns:a16="http://schemas.microsoft.com/office/drawing/2014/main" id="{31A24553-CA39-C078-BC7C-0469995D07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2625" y="4077004"/>
            <a:ext cx="2244437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7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Minimal">
            <a:extLst>
              <a:ext uri="{FF2B5EF4-FFF2-40B4-BE49-F238E27FC236}">
                <a16:creationId xmlns:a16="http://schemas.microsoft.com/office/drawing/2014/main" id="{8D48A504-BEB0-07EB-C62A-9BA18E8ECC1C}"/>
              </a:ext>
            </a:extLst>
          </p:cNvPr>
          <p:cNvGrpSpPr/>
          <p:nvPr/>
        </p:nvGrpSpPr>
        <p:grpSpPr>
          <a:xfrm>
            <a:off x="3259962" y="5514843"/>
            <a:ext cx="5495081" cy="861774"/>
            <a:chOff x="3259962" y="5514843"/>
            <a:chExt cx="5495081" cy="861774"/>
          </a:xfrm>
        </p:grpSpPr>
        <p:sp>
          <p:nvSpPr>
            <p:cNvPr id="11" name="minimal_text">
              <a:extLst>
                <a:ext uri="{FF2B5EF4-FFF2-40B4-BE49-F238E27FC236}">
                  <a16:creationId xmlns:a16="http://schemas.microsoft.com/office/drawing/2014/main" id="{617850F6-B75B-46CC-A399-AD4AD8A35764}"/>
                </a:ext>
              </a:extLst>
            </p:cNvPr>
            <p:cNvSpPr txBox="1"/>
            <p:nvPr/>
          </p:nvSpPr>
          <p:spPr>
            <a:xfrm>
              <a:off x="4817664" y="5514843"/>
              <a:ext cx="3937379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Minimal Impact → Low-impact levers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“Nice-to-have” features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Brand goodwill campaigns</a:t>
              </a:r>
            </a:p>
          </p:txBody>
        </p:sp>
        <p:pic>
          <p:nvPicPr>
            <p:cNvPr id="21" name="arrow" descr="Arrow: Slight curve with solid fill">
              <a:extLst>
                <a:ext uri="{FF2B5EF4-FFF2-40B4-BE49-F238E27FC236}">
                  <a16:creationId xmlns:a16="http://schemas.microsoft.com/office/drawing/2014/main" id="{FF11B7AA-3896-1A09-234F-B91A1A58DB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259962" y="5658147"/>
              <a:ext cx="691570" cy="691570"/>
            </a:xfrm>
            <a:prstGeom prst="rect">
              <a:avLst/>
            </a:prstGeom>
          </p:spPr>
        </p:pic>
      </p:grpSp>
      <p:grpSp>
        <p:nvGrpSpPr>
          <p:cNvPr id="6" name="Amplifying">
            <a:extLst>
              <a:ext uri="{FF2B5EF4-FFF2-40B4-BE49-F238E27FC236}">
                <a16:creationId xmlns:a16="http://schemas.microsoft.com/office/drawing/2014/main" id="{BADBD5DF-60B9-5428-E735-06AD4828D169}"/>
              </a:ext>
            </a:extLst>
          </p:cNvPr>
          <p:cNvGrpSpPr/>
          <p:nvPr/>
        </p:nvGrpSpPr>
        <p:grpSpPr>
          <a:xfrm>
            <a:off x="3259962" y="4143914"/>
            <a:ext cx="5652031" cy="923458"/>
            <a:chOff x="3259962" y="4143914"/>
            <a:chExt cx="5652031" cy="923458"/>
          </a:xfrm>
        </p:grpSpPr>
        <p:sp>
          <p:nvSpPr>
            <p:cNvPr id="9" name="amplifying_text">
              <a:extLst>
                <a:ext uri="{FF2B5EF4-FFF2-40B4-BE49-F238E27FC236}">
                  <a16:creationId xmlns:a16="http://schemas.microsoft.com/office/drawing/2014/main" id="{F98C9BBA-1F58-D2A9-5D72-0326B119C807}"/>
                </a:ext>
              </a:extLst>
            </p:cNvPr>
            <p:cNvSpPr txBox="1"/>
            <p:nvPr/>
          </p:nvSpPr>
          <p:spPr>
            <a:xfrm>
              <a:off x="4817664" y="4143914"/>
              <a:ext cx="4094329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Amplifying Drivers → Experience &amp; Trust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Ease of use / flexibility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Brand trust / transparency</a:t>
              </a:r>
            </a:p>
          </p:txBody>
        </p:sp>
        <p:pic>
          <p:nvPicPr>
            <p:cNvPr id="20" name="arrow" descr="Arrow: Slight curve with solid fill">
              <a:extLst>
                <a:ext uri="{FF2B5EF4-FFF2-40B4-BE49-F238E27FC236}">
                  <a16:creationId xmlns:a16="http://schemas.microsoft.com/office/drawing/2014/main" id="{07461871-9C5A-E2BC-6CD7-BBC77C192C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259962" y="4375802"/>
              <a:ext cx="691570" cy="691570"/>
            </a:xfrm>
            <a:prstGeom prst="rect">
              <a:avLst/>
            </a:prstGeom>
          </p:spPr>
        </p:pic>
      </p:grpSp>
      <p:grpSp>
        <p:nvGrpSpPr>
          <p:cNvPr id="3" name="Foundational">
            <a:extLst>
              <a:ext uri="{FF2B5EF4-FFF2-40B4-BE49-F238E27FC236}">
                <a16:creationId xmlns:a16="http://schemas.microsoft.com/office/drawing/2014/main" id="{3CECD690-5AE9-4239-C31F-599B0CB21F7D}"/>
              </a:ext>
            </a:extLst>
          </p:cNvPr>
          <p:cNvGrpSpPr/>
          <p:nvPr/>
        </p:nvGrpSpPr>
        <p:grpSpPr>
          <a:xfrm>
            <a:off x="3259962" y="2717954"/>
            <a:ext cx="5299463" cy="966421"/>
            <a:chOff x="3259962" y="2717954"/>
            <a:chExt cx="5299463" cy="966421"/>
          </a:xfrm>
        </p:grpSpPr>
        <p:sp>
          <p:nvSpPr>
            <p:cNvPr id="10" name="foundational_text">
              <a:extLst>
                <a:ext uri="{FF2B5EF4-FFF2-40B4-BE49-F238E27FC236}">
                  <a16:creationId xmlns:a16="http://schemas.microsoft.com/office/drawing/2014/main" id="{61C86067-1F54-5024-6342-4E42509BC51F}"/>
                </a:ext>
              </a:extLst>
            </p:cNvPr>
            <p:cNvSpPr txBox="1"/>
            <p:nvPr/>
          </p:nvSpPr>
          <p:spPr>
            <a:xfrm>
              <a:off x="4817664" y="2717954"/>
              <a:ext cx="3741761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Foundational Drivers → Core Value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Product quality / reliability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/>
                <a:t>Pricing &amp; value proposition </a:t>
              </a:r>
            </a:p>
          </p:txBody>
        </p:sp>
        <p:pic>
          <p:nvPicPr>
            <p:cNvPr id="19" name="arrow" descr="Arrow: Slight curve with solid fill">
              <a:extLst>
                <a:ext uri="{FF2B5EF4-FFF2-40B4-BE49-F238E27FC236}">
                  <a16:creationId xmlns:a16="http://schemas.microsoft.com/office/drawing/2014/main" id="{FBD96A59-58C8-A761-89F0-7B7C065BF0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259962" y="2992805"/>
              <a:ext cx="691570" cy="691570"/>
            </a:xfrm>
            <a:prstGeom prst="rect">
              <a:avLst/>
            </a:prstGeom>
          </p:spPr>
        </p:pic>
      </p:grpSp>
      <p:sp>
        <p:nvSpPr>
          <p:cNvPr id="8" name="Minimal Impact">
            <a:extLst>
              <a:ext uri="{FF2B5EF4-FFF2-40B4-BE49-F238E27FC236}">
                <a16:creationId xmlns:a16="http://schemas.microsoft.com/office/drawing/2014/main" id="{2F845EC1-18F5-E4A3-D72D-8770C47E1AA5}"/>
              </a:ext>
            </a:extLst>
          </p:cNvPr>
          <p:cNvSpPr txBox="1"/>
          <p:nvPr/>
        </p:nvSpPr>
        <p:spPr>
          <a:xfrm>
            <a:off x="386685" y="5514843"/>
            <a:ext cx="2442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Minimal Impact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Generosity</a:t>
            </a:r>
          </a:p>
        </p:txBody>
      </p:sp>
      <p:sp>
        <p:nvSpPr>
          <p:cNvPr id="4" name="Amplifiying Drivers">
            <a:extLst>
              <a:ext uri="{FF2B5EF4-FFF2-40B4-BE49-F238E27FC236}">
                <a16:creationId xmlns:a16="http://schemas.microsoft.com/office/drawing/2014/main" id="{B14B0198-C833-E522-B379-24B3CB36A21E}"/>
              </a:ext>
            </a:extLst>
          </p:cNvPr>
          <p:cNvSpPr txBox="1"/>
          <p:nvPr/>
        </p:nvSpPr>
        <p:spPr>
          <a:xfrm>
            <a:off x="386685" y="4143914"/>
            <a:ext cx="244294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Amplifying Drivers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Freedom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Trust</a:t>
            </a:r>
          </a:p>
        </p:txBody>
      </p:sp>
      <p:sp>
        <p:nvSpPr>
          <p:cNvPr id="5" name="Foundational Drivers">
            <a:extLst>
              <a:ext uri="{FF2B5EF4-FFF2-40B4-BE49-F238E27FC236}">
                <a16:creationId xmlns:a16="http://schemas.microsoft.com/office/drawing/2014/main" id="{3661DCAC-CDF7-4363-4A59-F71A6F01E561}"/>
              </a:ext>
            </a:extLst>
          </p:cNvPr>
          <p:cNvSpPr txBox="1"/>
          <p:nvPr/>
        </p:nvSpPr>
        <p:spPr>
          <a:xfrm>
            <a:off x="386685" y="2717954"/>
            <a:ext cx="244294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Foundational Drivers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GDP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Health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Social Support</a:t>
            </a:r>
          </a:p>
        </p:txBody>
      </p:sp>
      <p:sp>
        <p:nvSpPr>
          <p:cNvPr id="7" name="italics">
            <a:extLst>
              <a:ext uri="{FF2B5EF4-FFF2-40B4-BE49-F238E27FC236}">
                <a16:creationId xmlns:a16="http://schemas.microsoft.com/office/drawing/2014/main" id="{A0709052-2230-18FD-30E6-91EB9447DB95}"/>
              </a:ext>
            </a:extLst>
          </p:cNvPr>
          <p:cNvSpPr txBox="1"/>
          <p:nvPr/>
        </p:nvSpPr>
        <p:spPr>
          <a:xfrm>
            <a:off x="496579" y="1908260"/>
            <a:ext cx="82311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i="1" dirty="0"/>
              <a:t>“This suggests prioritizing core value drivers before investing in experience-level enhancements.”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0FA41807-D77D-4559-F159-D70D9FDC4663}"/>
              </a:ext>
            </a:extLst>
          </p:cNvPr>
          <p:cNvSpPr txBox="1"/>
          <p:nvPr/>
        </p:nvSpPr>
        <p:spPr>
          <a:xfrm>
            <a:off x="1615511" y="1069640"/>
            <a:ext cx="5993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Strong core value drives outcomes; differentiation comes from trust and experience—not all intuitive levers meaningfully impact results.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A1E25A-192F-0C62-EF9C-1A70C08D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61" y="274638"/>
            <a:ext cx="8229600" cy="646331"/>
          </a:xfrm>
        </p:spPr>
        <p:txBody>
          <a:bodyPr>
            <a:normAutofit/>
          </a:bodyPr>
          <a:lstStyle/>
          <a:p>
            <a:r>
              <a:rPr lang="en-US" sz="2800" b="1" dirty="0"/>
              <a:t>What This Means for Business Performance</a:t>
            </a:r>
          </a:p>
        </p:txBody>
      </p:sp>
    </p:spTree>
    <p:extLst>
      <p:ext uri="{BB962C8B-B14F-4D97-AF65-F5344CB8AC3E}">
        <p14:creationId xmlns:p14="http://schemas.microsoft.com/office/powerpoint/2010/main" val="332790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204</Words>
  <Application>Microsoft Office PowerPoint</Application>
  <PresentationFormat>On-screen Show (4:3)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From Exploration to Insight: A Structured Approach to Identifying Key Drivers</vt:lpstr>
      <vt:lpstr>Foundational Drivers Define Outcomes; Amplifiers Enhance Them</vt:lpstr>
      <vt:lpstr>What This Means for Business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Smith</cp:lastModifiedBy>
  <cp:revision>12</cp:revision>
  <dcterms:created xsi:type="dcterms:W3CDTF">2013-01-27T09:14:16Z</dcterms:created>
  <dcterms:modified xsi:type="dcterms:W3CDTF">2026-04-04T21:54:36Z</dcterms:modified>
  <cp:category/>
</cp:coreProperties>
</file>