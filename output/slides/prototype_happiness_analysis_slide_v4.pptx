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0" d="100"/>
          <a:sy n="140" d="100"/>
        </p:scale>
        <p:origin x="2394" y="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3327" y="418907"/>
            <a:ext cx="6717345" cy="907801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From Exploration to Insight: A Structured Approach to Identifying Key Drivers</a:t>
            </a: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736892-D01E-9B73-F0F6-9519FE40DC30}"/>
              </a:ext>
            </a:extLst>
          </p:cNvPr>
          <p:cNvSpPr txBox="1"/>
          <p:nvPr/>
        </p:nvSpPr>
        <p:spPr>
          <a:xfrm>
            <a:off x="2921374" y="2445163"/>
            <a:ext cx="26154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Hypothesis:</a:t>
            </a:r>
            <a:br>
              <a:rPr lang="en-US" sz="1200" dirty="0"/>
            </a:br>
            <a:r>
              <a:rPr lang="en-US" sz="1200" b="1" dirty="0"/>
              <a:t>“High-performing countries will consistently outperform across key drivers”</a:t>
            </a:r>
            <a:endParaRPr 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9EC8BD-D493-C231-118F-93185B299639}"/>
              </a:ext>
            </a:extLst>
          </p:cNvPr>
          <p:cNvSpPr txBox="1"/>
          <p:nvPr/>
        </p:nvSpPr>
        <p:spPr>
          <a:xfrm>
            <a:off x="152393" y="2445163"/>
            <a:ext cx="26154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Analyzed correlations across key variables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Identified strongest drivers of happiness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220A0F-0E20-263F-C96E-B3ECD9AD48D0}"/>
              </a:ext>
            </a:extLst>
          </p:cNvPr>
          <p:cNvSpPr txBox="1"/>
          <p:nvPr/>
        </p:nvSpPr>
        <p:spPr>
          <a:xfrm>
            <a:off x="6084803" y="2445163"/>
            <a:ext cx="26154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Segmented countries by happiness score (Bottom / Middle / Top)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Compared driver distributions across groups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0E15E67-7A1B-113B-795B-805540AE94BE}"/>
              </a:ext>
            </a:extLst>
          </p:cNvPr>
          <p:cNvSpPr txBox="1">
            <a:spLocks/>
          </p:cNvSpPr>
          <p:nvPr/>
        </p:nvSpPr>
        <p:spPr>
          <a:xfrm>
            <a:off x="347935" y="1610572"/>
            <a:ext cx="2224368" cy="579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Explore Relationships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02CAB37D-5FCE-FA6B-BAD7-845C69D88E66}"/>
              </a:ext>
            </a:extLst>
          </p:cNvPr>
          <p:cNvSpPr txBox="1">
            <a:spLocks/>
          </p:cNvSpPr>
          <p:nvPr/>
        </p:nvSpPr>
        <p:spPr>
          <a:xfrm>
            <a:off x="3343275" y="1610572"/>
            <a:ext cx="1771651" cy="579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Form Hypothesis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2B851766-380D-310E-FCDE-EE1FF683876B}"/>
              </a:ext>
            </a:extLst>
          </p:cNvPr>
          <p:cNvSpPr txBox="1">
            <a:spLocks/>
          </p:cNvSpPr>
          <p:nvPr/>
        </p:nvSpPr>
        <p:spPr>
          <a:xfrm>
            <a:off x="5809139" y="1610572"/>
            <a:ext cx="3166781" cy="579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Validate through Segmentation</a:t>
            </a:r>
          </a:p>
        </p:txBody>
      </p:sp>
      <p:pic>
        <p:nvPicPr>
          <p:cNvPr id="32" name="Graphic 31" descr="Arrow: Slight curve with solid fill">
            <a:extLst>
              <a:ext uri="{FF2B5EF4-FFF2-40B4-BE49-F238E27FC236}">
                <a16:creationId xmlns:a16="http://schemas.microsoft.com/office/drawing/2014/main" id="{3069DAD6-D71E-FB0A-A5D0-E8CDF3FB77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84796" y="1554412"/>
            <a:ext cx="691570" cy="691570"/>
          </a:xfrm>
          <a:prstGeom prst="rect">
            <a:avLst/>
          </a:prstGeom>
        </p:spPr>
      </p:pic>
      <p:pic>
        <p:nvPicPr>
          <p:cNvPr id="33" name="Graphic 32" descr="Arrow: Slight curve with solid fill">
            <a:extLst>
              <a:ext uri="{FF2B5EF4-FFF2-40B4-BE49-F238E27FC236}">
                <a16:creationId xmlns:a16="http://schemas.microsoft.com/office/drawing/2014/main" id="{59970E47-A36F-87D1-DF1E-0315346EBA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68392" y="1554412"/>
            <a:ext cx="691570" cy="691570"/>
          </a:xfrm>
          <a:prstGeom prst="rect">
            <a:avLst/>
          </a:prstGeom>
        </p:spPr>
      </p:pic>
      <p:pic>
        <p:nvPicPr>
          <p:cNvPr id="1030" name="Picture 6" descr="Simple Light Bulb Icon Stock Illustrations – 59,331 Simple Light Bulb Icon  Stock Illustrations, Vectors &amp; Clipart - Dreamstime">
            <a:extLst>
              <a:ext uri="{FF2B5EF4-FFF2-40B4-BE49-F238E27FC236}">
                <a16:creationId xmlns:a16="http://schemas.microsoft.com/office/drawing/2014/main" id="{B6DCBCF2-6205-F5B6-79D3-A82367348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4444" y="3731567"/>
            <a:ext cx="1889312" cy="1889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859B15B-C989-D1E8-1C6A-5DCE5F6D1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7873" y="4149677"/>
            <a:ext cx="1889312" cy="105309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87813EF-56DF-D2B2-7C6D-DB8884AC7E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262" y="3995271"/>
            <a:ext cx="2285714" cy="1361905"/>
          </a:xfrm>
          <a:prstGeom prst="rect">
            <a:avLst/>
          </a:prstGeom>
        </p:spPr>
      </p:pic>
      <p:pic>
        <p:nvPicPr>
          <p:cNvPr id="1038" name="Picture 14" descr="img.freepik.com/premium-vector/globe-world-europe-...">
            <a:extLst>
              <a:ext uri="{FF2B5EF4-FFF2-40B4-BE49-F238E27FC236}">
                <a16:creationId xmlns:a16="http://schemas.microsoft.com/office/drawing/2014/main" id="{51CE40E0-35C3-8A9D-0EB4-F1352F055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080" y="152841"/>
            <a:ext cx="1415060" cy="1415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8FB3B-70A2-F6A4-EA83-9F84E1763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D4FA9-EE43-5EBE-F01E-439BE97F2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80" y="274638"/>
            <a:ext cx="8969188" cy="579250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Foundational Drivers Define Outcomes; Amplifiers Enhance Them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61B58E-6620-6AA3-1C56-7D01B8EBDED7}"/>
              </a:ext>
            </a:extLst>
          </p:cNvPr>
          <p:cNvSpPr txBox="1"/>
          <p:nvPr/>
        </p:nvSpPr>
        <p:spPr>
          <a:xfrm>
            <a:off x="762774" y="1485910"/>
            <a:ext cx="213205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Foundational Drivers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F10539-D91E-135C-562D-B274AF09EF7F}"/>
              </a:ext>
            </a:extLst>
          </p:cNvPr>
          <p:cNvSpPr txBox="1"/>
          <p:nvPr/>
        </p:nvSpPr>
        <p:spPr>
          <a:xfrm>
            <a:off x="878190" y="3902748"/>
            <a:ext cx="190122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Amplifying </a:t>
            </a:r>
            <a:r>
              <a:rPr lang="en-US" dirty="0"/>
              <a:t>Drivers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1CE2AE-F7A6-552C-1CE2-C98FDAB21788}"/>
              </a:ext>
            </a:extLst>
          </p:cNvPr>
          <p:cNvSpPr txBox="1"/>
          <p:nvPr/>
        </p:nvSpPr>
        <p:spPr>
          <a:xfrm>
            <a:off x="6181439" y="3902748"/>
            <a:ext cx="2451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Minimal Impact</a:t>
            </a:r>
            <a:r>
              <a:rPr lang="en-US" dirty="0"/>
              <a:t> Driver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C4ABDF8-E0A1-2127-A8EB-2A9DE2D99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55242"/>
            <a:ext cx="2743206" cy="201168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BACA234-9713-D3E0-7E74-3EDE3A593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9352" y="1855242"/>
            <a:ext cx="2743206" cy="201168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1508E9A-1717-C464-B356-ADC9E060C6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726" y="1855242"/>
            <a:ext cx="2743206" cy="201168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FFF1B71-3DB8-6845-2778-80459A0FDE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430354"/>
            <a:ext cx="2743206" cy="201168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F7FE229-B607-28D1-76E6-B7645EB6D9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9352" y="4430354"/>
            <a:ext cx="2743206" cy="201168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AA6977D-44C0-5085-3B3C-F60A42A710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726" y="4430354"/>
            <a:ext cx="2743206" cy="20116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9C7FA6-4273-77C8-D2E6-23BEC8997EAA}"/>
              </a:ext>
            </a:extLst>
          </p:cNvPr>
          <p:cNvSpPr txBox="1"/>
          <p:nvPr/>
        </p:nvSpPr>
        <p:spPr>
          <a:xfrm>
            <a:off x="420813" y="763712"/>
            <a:ext cx="82305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600" dirty="0"/>
              <a:t>Top-performing countries consistently show higher values across GDP, Health, and Social Support</a:t>
            </a:r>
          </a:p>
        </p:txBody>
      </p:sp>
    </p:spTree>
    <p:extLst>
      <p:ext uri="{BB962C8B-B14F-4D97-AF65-F5344CB8AC3E}">
        <p14:creationId xmlns:p14="http://schemas.microsoft.com/office/powerpoint/2010/main" val="2838374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1E25A-192F-0C62-EF9C-1A70C08DA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143" y="274638"/>
            <a:ext cx="8229600" cy="646331"/>
          </a:xfrm>
        </p:spPr>
        <p:txBody>
          <a:bodyPr>
            <a:normAutofit/>
          </a:bodyPr>
          <a:lstStyle/>
          <a:p>
            <a:r>
              <a:rPr lang="en-US" sz="2800" dirty="0"/>
              <a:t>What This Means for Business Performance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4B0198-C833-E522-B379-24B3CB36A21E}"/>
              </a:ext>
            </a:extLst>
          </p:cNvPr>
          <p:cNvSpPr txBox="1"/>
          <p:nvPr/>
        </p:nvSpPr>
        <p:spPr>
          <a:xfrm>
            <a:off x="386685" y="3579128"/>
            <a:ext cx="24429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Amplifying Drivers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Freedom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Trust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61DCAC-CDF7-4363-4A59-F71A6F01E561}"/>
              </a:ext>
            </a:extLst>
          </p:cNvPr>
          <p:cNvSpPr txBox="1"/>
          <p:nvPr/>
        </p:nvSpPr>
        <p:spPr>
          <a:xfrm>
            <a:off x="386685" y="2153168"/>
            <a:ext cx="24429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Foundational Drivers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GDP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Health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Social Support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845EC1-18F5-E4A3-D72D-8770C47E1AA5}"/>
              </a:ext>
            </a:extLst>
          </p:cNvPr>
          <p:cNvSpPr txBox="1"/>
          <p:nvPr/>
        </p:nvSpPr>
        <p:spPr>
          <a:xfrm>
            <a:off x="386685" y="4950057"/>
            <a:ext cx="24429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Minimal Impact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Generosity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8C9BBA-1F58-D2A9-5D72-0326B119C807}"/>
              </a:ext>
            </a:extLst>
          </p:cNvPr>
          <p:cNvSpPr txBox="1"/>
          <p:nvPr/>
        </p:nvSpPr>
        <p:spPr>
          <a:xfrm>
            <a:off x="4817664" y="3579128"/>
            <a:ext cx="40943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Amplifying Drivers → Experience &amp; Trust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Ease of use / flexibility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Brand trust / transparency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C86067-1F54-5024-6342-4E42509BC51F}"/>
              </a:ext>
            </a:extLst>
          </p:cNvPr>
          <p:cNvSpPr txBox="1"/>
          <p:nvPr/>
        </p:nvSpPr>
        <p:spPr>
          <a:xfrm>
            <a:off x="4817664" y="2153168"/>
            <a:ext cx="37417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Foundational Drivers → Core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 quality / reliability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Pricing &amp; value proposition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7850F6-B75B-46CC-A399-AD4AD8A35764}"/>
              </a:ext>
            </a:extLst>
          </p:cNvPr>
          <p:cNvSpPr txBox="1"/>
          <p:nvPr/>
        </p:nvSpPr>
        <p:spPr>
          <a:xfrm>
            <a:off x="4817664" y="4950057"/>
            <a:ext cx="39373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Minimal Impact → Low-impact levers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“Nice-to-have” features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Brand goodwill campaigns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A41807-D77D-4559-F159-D70D9FDC4663}"/>
              </a:ext>
            </a:extLst>
          </p:cNvPr>
          <p:cNvSpPr txBox="1"/>
          <p:nvPr/>
        </p:nvSpPr>
        <p:spPr>
          <a:xfrm>
            <a:off x="1139019" y="1069640"/>
            <a:ext cx="6947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Strong core value drives outcomes; differentiation comes from trust and experience—not all intuitive levers meaningfully impact results.</a:t>
            </a:r>
          </a:p>
        </p:txBody>
      </p:sp>
      <p:pic>
        <p:nvPicPr>
          <p:cNvPr id="19" name="Graphic 18" descr="Arrow: Slight curve with solid fill">
            <a:extLst>
              <a:ext uri="{FF2B5EF4-FFF2-40B4-BE49-F238E27FC236}">
                <a16:creationId xmlns:a16="http://schemas.microsoft.com/office/drawing/2014/main" id="{FBD96A59-58C8-A761-89F0-7B7C065BF0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59962" y="2428019"/>
            <a:ext cx="691570" cy="691570"/>
          </a:xfrm>
          <a:prstGeom prst="rect">
            <a:avLst/>
          </a:prstGeom>
        </p:spPr>
      </p:pic>
      <p:pic>
        <p:nvPicPr>
          <p:cNvPr id="20" name="Graphic 19" descr="Arrow: Slight curve with solid fill">
            <a:extLst>
              <a:ext uri="{FF2B5EF4-FFF2-40B4-BE49-F238E27FC236}">
                <a16:creationId xmlns:a16="http://schemas.microsoft.com/office/drawing/2014/main" id="{07461871-9C5A-E2BC-6CD7-BBC77C192C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59962" y="3811016"/>
            <a:ext cx="691570" cy="691570"/>
          </a:xfrm>
          <a:prstGeom prst="rect">
            <a:avLst/>
          </a:prstGeom>
        </p:spPr>
      </p:pic>
      <p:pic>
        <p:nvPicPr>
          <p:cNvPr id="21" name="Graphic 20" descr="Arrow: Slight curve with solid fill">
            <a:extLst>
              <a:ext uri="{FF2B5EF4-FFF2-40B4-BE49-F238E27FC236}">
                <a16:creationId xmlns:a16="http://schemas.microsoft.com/office/drawing/2014/main" id="{FF11B7AA-3896-1A09-234F-B91A1A58DB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59962" y="5093361"/>
            <a:ext cx="691570" cy="69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904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168</Words>
  <Application>Microsoft Office PowerPoint</Application>
  <PresentationFormat>On-screen Show (4:3)</PresentationFormat>
  <Paragraphs>34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From Exploration to Insight: A Structured Approach to Identifying Key Drivers</vt:lpstr>
      <vt:lpstr>Foundational Drivers Define Outcomes; Amplifiers Enhance Them</vt:lpstr>
      <vt:lpstr>What This Means for Business Performance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Paul Smith</cp:lastModifiedBy>
  <cp:revision>6</cp:revision>
  <dcterms:created xsi:type="dcterms:W3CDTF">2013-01-27T09:14:16Z</dcterms:created>
  <dcterms:modified xsi:type="dcterms:W3CDTF">2026-04-04T02:13:42Z</dcterms:modified>
  <cp:category/>
</cp:coreProperties>
</file>